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6049D-9B54-4A39-B3D7-C2807540E6E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08C92-30CC-4DA6-AD54-CCBAE1003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76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7F18-6666-5F10-A818-50D5B0212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7237C-45B9-6184-0FAD-E7DF4E815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0C6B7-3F37-8E31-406D-5B737C85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CEF00-4192-E532-AC1F-F04131F0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D5F25-1FF8-E605-826C-429A562B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07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BA37-C458-8B04-FC57-B900A305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E6205-E060-8411-B09E-CCDD27491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BC280-7CAF-5F0C-9BEC-35D3AC58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02173-4409-2971-D993-46328AA6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B1BC7-9A07-320F-D621-29130918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37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7B90-DB79-C0A7-DE40-9A59EA3E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F802-1772-1410-63FA-8C603BB94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481D8-7CB1-73F5-CFE8-1D232A88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6833A-A4B0-D5E8-9028-8BC0A288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7C49C-A4BA-35E6-A224-0651EA8D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430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E25A-31EF-2ECC-47D5-31690862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A4D6F-5B89-C1D8-7545-05B7FB7D9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5AEFC-C0A1-2E7E-9A30-00D545FCC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F1CFE-96A7-137A-A1EB-2BFC8F87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08B70-9432-AE49-0291-C75A3278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EEE52-1BEC-8F11-162E-29BD4A87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08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724A-AD0E-3ACA-81E9-4F07496F4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A69DF-A7E3-D985-D195-67C6E1EE0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A9E21-D75B-0F84-DD0D-6AA14F5DD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6A899-85F9-F073-DE5B-D0E540416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E76A6-E5AE-6D05-203E-77DF037CA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0FFD2-063B-0CAB-E902-87F383EA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B7DFB-1C41-9E55-88B3-FB9F9AC9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4D7F5-FBCD-CAE4-EE91-BE9E8206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5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A0B4-F265-A16D-EEAA-ABD8E3BA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D9632-87BB-DE1A-7A03-469C0EC2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E2BA2-3BE6-DC1C-0A70-02F141F0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958E2-D8EB-7497-F343-A9E62DF7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0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38D94-18C5-0DE8-5750-C03F6AA0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93E08-66F1-E9EF-2994-68B4192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69B1-914F-D493-4979-2F01D8CC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5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9F70-35AF-41C6-F851-37D9BC76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FF6D-39C0-B0C9-C4F9-B7C1F8C6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86668-5339-9999-84CC-93D896DA4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7F3B4-5DD4-537A-5CA0-01337DB3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D35D4-1203-1C88-F16A-0ACCC1CC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FF1DA-C90A-8CB9-3F2F-9BC6109A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2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747C-ED2F-F35E-7FAF-65BFEBE6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BD285-059A-75BB-63C3-27C19C3F2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D171A-94EE-8DC6-F3F0-EC81B629D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66672-0C2E-5524-44F4-75A811C8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3469C-AE74-C436-734E-337593BB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A39A2-4E36-4C5E-2F59-12FE0E9B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8E79-8BE3-678B-3BA2-6EEEF823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81376-62FC-8627-C4D8-D75CCC4B0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65E6F-E41C-8EFB-F5A3-0FEF708B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8B77-8A0D-6963-6B94-0F9F6D63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E9DFE-F762-2B30-FD55-C7D0D2FE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49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094D8-20C8-9F02-F55D-658543E01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867B0-15B8-65D1-F517-E84E26965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86643-2B91-CC23-3FBA-F7E84302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A167-0BC1-36C4-9792-4BB4F623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4415-85F5-06DA-BB85-87DA5B24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3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73EEB-6326-8C41-4407-ED342353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C1A64-1473-64E8-F176-ED83C7A81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79487-BD70-7FC8-270D-01BBF33C6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03BDD-5008-4A22-A77B-FF5BD14C234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53155-8FC5-CFDD-5013-11360D923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17E29-54FB-2A23-C87E-5310B4C55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B975E-9753-4D28-A93E-FD567B1C95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6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40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30" descr="File:Tata Consultancy Services old logo.sv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467" y="1234356"/>
            <a:ext cx="10905066" cy="4389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 txBox="1">
            <a:spLocks noGrp="1"/>
          </p:cNvSpPr>
          <p:nvPr>
            <p:ph type="title"/>
          </p:nvPr>
        </p:nvSpPr>
        <p:spPr>
          <a:xfrm>
            <a:off x="-4011" y="4178"/>
            <a:ext cx="12213389" cy="101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r>
              <a:rPr lang="en-US"/>
              <a:t> </a:t>
            </a: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455" name="Google Shape;455;p31"/>
          <p:cNvSpPr txBox="1">
            <a:spLocks noGrp="1"/>
          </p:cNvSpPr>
          <p:nvPr>
            <p:ph type="body" idx="1"/>
          </p:nvPr>
        </p:nvSpPr>
        <p:spPr>
          <a:xfrm>
            <a:off x="8280" y="1019423"/>
            <a:ext cx="6870639" cy="583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About TCS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Founded in 1968, headquartered in Mumbai, India.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Operates in 50+ countries with 700,000+ employees globally.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Core Services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Offers IT services, digital transformation, consulting, AI, automation, and cybersecurity.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Serves industries like BFSI, retail, telecom, manufacturing, and healthcare.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Financial Snapshot (FY 2024-25)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FY 2024-25 revenue: approx. ₹2.5 lakh crore; net profit: approx. ₹48,800 crore.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Strong operating margin (~24.5%) and one of the largest IT firms in market capitalization globally.</a:t>
            </a:r>
            <a:endParaRPr sz="240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/>
          </a:p>
        </p:txBody>
      </p:sp>
      <p:sp>
        <p:nvSpPr>
          <p:cNvPr id="456" name="Google Shape;45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457" name="Google Shape;457;p31" descr="TCS chief says no cutting down on hiring; but wants to end work from home,  ETHRWorl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3745" y="1032534"/>
            <a:ext cx="5301463" cy="5839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7925" y="9138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"/>
          <p:cNvSpPr txBox="1"/>
          <p:nvPr/>
        </p:nvSpPr>
        <p:spPr>
          <a:xfrm>
            <a:off x="3200111" y="151409"/>
            <a:ext cx="5826595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Sheet- Assets Side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>
            <a:spLocks noGrp="1"/>
          </p:cNvSpPr>
          <p:nvPr>
            <p:ph type="sldNum" idx="12"/>
          </p:nvPr>
        </p:nvSpPr>
        <p:spPr>
          <a:xfrm>
            <a:off x="9304962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  <p:grpSp>
        <p:nvGrpSpPr>
          <p:cNvPr id="466" name="Google Shape;466;p32"/>
          <p:cNvGrpSpPr/>
          <p:nvPr/>
        </p:nvGrpSpPr>
        <p:grpSpPr>
          <a:xfrm>
            <a:off x="6180533" y="1351231"/>
            <a:ext cx="5688118" cy="4256309"/>
            <a:chOff x="0" y="1768"/>
            <a:chExt cx="5688118" cy="4256309"/>
          </a:xfrm>
        </p:grpSpPr>
        <p:sp>
          <p:nvSpPr>
            <p:cNvPr id="467" name="Google Shape;467;p32"/>
            <p:cNvSpPr/>
            <p:nvPr/>
          </p:nvSpPr>
          <p:spPr>
            <a:xfrm>
              <a:off x="0" y="1768"/>
              <a:ext cx="5688118" cy="896065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271059" y="203382"/>
              <a:ext cx="492835" cy="49283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1034955" y="1768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2"/>
            <p:cNvSpPr txBox="1"/>
            <p:nvPr/>
          </p:nvSpPr>
          <p:spPr>
            <a:xfrm>
              <a:off x="1034955" y="1768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25" tIns="94825" rIns="94825" bIns="94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Trade Receivables increased by ₹28,967 Cr</a:t>
              </a:r>
              <a:b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Due to rising business volumes, extended payment terms, and currency effects.</a:t>
              </a:r>
              <a:endParaRPr/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0" y="1121849"/>
              <a:ext cx="5688118" cy="896065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271059" y="1323464"/>
              <a:ext cx="492835" cy="49283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1034955" y="1121849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2"/>
            <p:cNvSpPr txBox="1"/>
            <p:nvPr/>
          </p:nvSpPr>
          <p:spPr>
            <a:xfrm>
              <a:off x="1034955" y="1121849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25" tIns="94825" rIns="94825" bIns="94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Cash &amp; Cash Equivalents increased by ₹6,134 Cr</a:t>
              </a:r>
              <a:b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Driven by strong cash flow and prudent liquidity management amid global uncertainties.</a:t>
              </a:r>
              <a:endParaRPr/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0" y="2241931"/>
              <a:ext cx="5688118" cy="896065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271059" y="2443545"/>
              <a:ext cx="492835" cy="49283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1034955" y="2241931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2"/>
            <p:cNvSpPr txBox="1"/>
            <p:nvPr/>
          </p:nvSpPr>
          <p:spPr>
            <a:xfrm>
              <a:off x="1034955" y="2241931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25" tIns="94825" rIns="94825" bIns="94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Short Term Loans and Advances decreased by ₹11,447 Cr</a:t>
              </a:r>
              <a:b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Reflects tighter credit and collections policies, plus repayments.</a:t>
              </a:r>
              <a:endParaRPr/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0" y="3362012"/>
              <a:ext cx="5688118" cy="896065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271059" y="3563627"/>
              <a:ext cx="492835" cy="49283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1034955" y="3362012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2"/>
            <p:cNvSpPr txBox="1"/>
            <p:nvPr/>
          </p:nvSpPr>
          <p:spPr>
            <a:xfrm>
              <a:off x="1034955" y="3362012"/>
              <a:ext cx="4653162" cy="896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825" tIns="94825" rIns="94825" bIns="948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Fixed Assets increased by ₹2,590 Cr</a:t>
              </a:r>
              <a:b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Due to investments in tech infrastructure and new delivery centers.</a:t>
              </a:r>
              <a:endParaRPr/>
            </a:p>
          </p:txBody>
        </p:sp>
      </p:grpSp>
      <p:pic>
        <p:nvPicPr>
          <p:cNvPr id="483" name="Google Shape;483;p32" descr="A graph of growth in asset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 l="965" t="4902" r="1914" b="3913"/>
          <a:stretch/>
        </p:blipFill>
        <p:spPr>
          <a:xfrm>
            <a:off x="450095" y="1338135"/>
            <a:ext cx="5647370" cy="4256474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84" name="Google Shape;484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87925" y="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"/>
          <p:cNvSpPr txBox="1"/>
          <p:nvPr/>
        </p:nvSpPr>
        <p:spPr>
          <a:xfrm>
            <a:off x="3200111" y="151409"/>
            <a:ext cx="5469446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Sheet- Liabilities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3"/>
          <p:cNvSpPr txBox="1">
            <a:spLocks noGrp="1"/>
          </p:cNvSpPr>
          <p:nvPr>
            <p:ph type="sldNum" idx="12"/>
          </p:nvPr>
        </p:nvSpPr>
        <p:spPr>
          <a:xfrm>
            <a:off x="9304962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  <p:grpSp>
        <p:nvGrpSpPr>
          <p:cNvPr id="492" name="Google Shape;492;p33"/>
          <p:cNvGrpSpPr/>
          <p:nvPr/>
        </p:nvGrpSpPr>
        <p:grpSpPr>
          <a:xfrm>
            <a:off x="6344264" y="1266853"/>
            <a:ext cx="5477193" cy="4424575"/>
            <a:chOff x="0" y="1837"/>
            <a:chExt cx="5477193" cy="4424575"/>
          </a:xfrm>
        </p:grpSpPr>
        <p:sp>
          <p:nvSpPr>
            <p:cNvPr id="493" name="Google Shape;493;p33"/>
            <p:cNvSpPr/>
            <p:nvPr/>
          </p:nvSpPr>
          <p:spPr>
            <a:xfrm>
              <a:off x="0" y="1837"/>
              <a:ext cx="5477193" cy="931489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281775" y="211423"/>
              <a:ext cx="512319" cy="51231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1075870" y="1837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3"/>
            <p:cNvSpPr txBox="1"/>
            <p:nvPr/>
          </p:nvSpPr>
          <p:spPr>
            <a:xfrm>
              <a:off x="1075870" y="1837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Other Current Liabilities increased by ₹14,011 Cr</a:t>
              </a:r>
              <a:b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Reflects higher accruals, contract advances from clients, and increased statutory/vendor dues as business scaled.</a:t>
              </a:r>
              <a:endParaRPr/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0" y="1166199"/>
              <a:ext cx="5477193" cy="931489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281775" y="1375784"/>
              <a:ext cx="512319" cy="51231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1075870" y="1166199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3"/>
            <p:cNvSpPr txBox="1"/>
            <p:nvPr/>
          </p:nvSpPr>
          <p:spPr>
            <a:xfrm>
              <a:off x="1075870" y="1166199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Trade Payables increased by ₹6,049 Cr</a:t>
              </a:r>
              <a:b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Due to higher vendor/supplier payments linked with expansion in project volumes and outsourcing.</a:t>
              </a:r>
              <a:endParaRPr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0" y="2330561"/>
              <a:ext cx="5477193" cy="931489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281775" y="2540146"/>
              <a:ext cx="512319" cy="51231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3"/>
            <p:cNvSpPr/>
            <p:nvPr/>
          </p:nvSpPr>
          <p:spPr>
            <a:xfrm>
              <a:off x="1075870" y="2330561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3"/>
            <p:cNvSpPr txBox="1"/>
            <p:nvPr/>
          </p:nvSpPr>
          <p:spPr>
            <a:xfrm>
              <a:off x="1075870" y="2330561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Reserves and Surplus increased by ₹8,331 Cr</a:t>
              </a:r>
              <a:b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Growth from consistent profitability and retained earnings, strengthening shareholder funds.</a:t>
              </a:r>
              <a:endParaRPr/>
            </a:p>
          </p:txBody>
        </p:sp>
        <p:sp>
          <p:nvSpPr>
            <p:cNvPr id="505" name="Google Shape;505;p33"/>
            <p:cNvSpPr/>
            <p:nvPr/>
          </p:nvSpPr>
          <p:spPr>
            <a:xfrm>
              <a:off x="0" y="3494923"/>
              <a:ext cx="5477193" cy="931489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3"/>
            <p:cNvSpPr/>
            <p:nvPr/>
          </p:nvSpPr>
          <p:spPr>
            <a:xfrm>
              <a:off x="281775" y="3704508"/>
              <a:ext cx="512319" cy="51231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1075870" y="3494923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3"/>
            <p:cNvSpPr txBox="1"/>
            <p:nvPr/>
          </p:nvSpPr>
          <p:spPr>
            <a:xfrm>
              <a:off x="1075870" y="3494923"/>
              <a:ext cx="4401322" cy="931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Short Term Provisions decreased by ₹1,214 Cr</a:t>
              </a:r>
              <a:b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Indicative of improved risk management and settlement of earlier provisions.</a:t>
              </a:r>
              <a:endParaRPr/>
            </a:p>
          </p:txBody>
        </p:sp>
      </p:grpSp>
      <p:pic>
        <p:nvPicPr>
          <p:cNvPr id="509" name="Google Shape;509;p33" descr="A graph of growth in liabilitie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2411" y="1283570"/>
            <a:ext cx="5727598" cy="4278569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0" name="Google Shape;510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87925" y="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 txBox="1"/>
          <p:nvPr/>
        </p:nvSpPr>
        <p:spPr>
          <a:xfrm>
            <a:off x="619144" y="151409"/>
            <a:ext cx="11061561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Profit and Loss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4"/>
          <p:cNvSpPr txBox="1">
            <a:spLocks noGrp="1"/>
          </p:cNvSpPr>
          <p:nvPr>
            <p:ph type="sldNum" idx="12"/>
          </p:nvPr>
        </p:nvSpPr>
        <p:spPr>
          <a:xfrm>
            <a:off x="9304962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  <p:pic>
        <p:nvPicPr>
          <p:cNvPr id="518" name="Google Shape;518;p34" descr="A graph of income and expens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882" t="3654" r="2981" b="4057"/>
          <a:stretch/>
        </p:blipFill>
        <p:spPr>
          <a:xfrm>
            <a:off x="255793" y="1481672"/>
            <a:ext cx="6821105" cy="3902960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19" name="Google Shape;519;p34"/>
          <p:cNvGrpSpPr/>
          <p:nvPr/>
        </p:nvGrpSpPr>
        <p:grpSpPr>
          <a:xfrm>
            <a:off x="7264613" y="2269465"/>
            <a:ext cx="4780581" cy="2317086"/>
            <a:chOff x="4426" y="1007709"/>
            <a:chExt cx="4780581" cy="2317086"/>
          </a:xfrm>
        </p:grpSpPr>
        <p:sp>
          <p:nvSpPr>
            <p:cNvPr id="520" name="Google Shape;520;p34"/>
            <p:cNvSpPr/>
            <p:nvPr/>
          </p:nvSpPr>
          <p:spPr>
            <a:xfrm>
              <a:off x="4426" y="1007709"/>
              <a:ext cx="769289" cy="76928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>
                  <a:alpha val="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4426" y="1876633"/>
              <a:ext cx="2197968" cy="886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 txBox="1"/>
            <p:nvPr/>
          </p:nvSpPr>
          <p:spPr>
            <a:xfrm>
              <a:off x="4426" y="1876633"/>
              <a:ext cx="2197968" cy="886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Operating and Direct Expenses surged from ₹1,462 Cr to ₹11,648 Cr, particularly increasing in FY25</a:t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4426" y="2809031"/>
              <a:ext cx="2197968" cy="515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 txBox="1"/>
            <p:nvPr/>
          </p:nvSpPr>
          <p:spPr>
            <a:xfrm>
              <a:off x="4426" y="2809031"/>
              <a:ext cx="2197968" cy="515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Indicates bulk outsourcing, increased subcontractor costs, or large IT hardware/software purchases.</a:t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2587039" y="1007709"/>
              <a:ext cx="769289" cy="76928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>
                  <a:alpha val="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2587039" y="1876633"/>
              <a:ext cx="2197968" cy="886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4"/>
            <p:cNvSpPr txBox="1"/>
            <p:nvPr/>
          </p:nvSpPr>
          <p:spPr>
            <a:xfrm>
              <a:off x="2587039" y="1876633"/>
              <a:ext cx="2197968" cy="886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Depreciation and Amortization Expenses increased from ₹4,065 Cr to ₹5,242 Cr</a:t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2587039" y="2809031"/>
              <a:ext cx="2197968" cy="515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 txBox="1"/>
            <p:nvPr/>
          </p:nvSpPr>
          <p:spPr>
            <a:xfrm>
              <a:off x="2587039" y="2809031"/>
              <a:ext cx="2197968" cy="515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Due to capital asset growth and technology investments.</a:t>
              </a:r>
              <a:endParaRPr/>
            </a:p>
          </p:txBody>
        </p:sp>
      </p:grpSp>
      <p:pic>
        <p:nvPicPr>
          <p:cNvPr id="530" name="Google Shape;530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87925" y="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"/>
          <p:cNvSpPr txBox="1"/>
          <p:nvPr/>
        </p:nvSpPr>
        <p:spPr>
          <a:xfrm>
            <a:off x="579901" y="151409"/>
            <a:ext cx="10959648" cy="156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Cash Flow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400" b="1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5"/>
          <p:cNvSpPr txBox="1">
            <a:spLocks noGrp="1"/>
          </p:cNvSpPr>
          <p:nvPr>
            <p:ph type="sldNum" idx="12"/>
          </p:nvPr>
        </p:nvSpPr>
        <p:spPr>
          <a:xfrm>
            <a:off x="9304962" y="64008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  <p:pic>
        <p:nvPicPr>
          <p:cNvPr id="538" name="Google Shape;538;p35" descr="A graph of a graph showing the amount of cash flow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619" t="2589" r="4771" b="3011"/>
          <a:stretch/>
        </p:blipFill>
        <p:spPr>
          <a:xfrm>
            <a:off x="389911" y="1386895"/>
            <a:ext cx="5678256" cy="4836300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39" name="Google Shape;539;p35"/>
          <p:cNvGrpSpPr/>
          <p:nvPr/>
        </p:nvGrpSpPr>
        <p:grpSpPr>
          <a:xfrm>
            <a:off x="6354019" y="1467839"/>
            <a:ext cx="5674324" cy="4224083"/>
            <a:chOff x="1422" y="303183"/>
            <a:chExt cx="5674324" cy="4224083"/>
          </a:xfrm>
        </p:grpSpPr>
        <p:sp>
          <p:nvSpPr>
            <p:cNvPr id="540" name="Google Shape;540;p35"/>
            <p:cNvSpPr/>
            <p:nvPr/>
          </p:nvSpPr>
          <p:spPr>
            <a:xfrm>
              <a:off x="1422" y="303183"/>
              <a:ext cx="592839" cy="59283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5"/>
            <p:cNvSpPr/>
            <p:nvPr/>
          </p:nvSpPr>
          <p:spPr>
            <a:xfrm>
              <a:off x="1422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5"/>
            <p:cNvSpPr txBox="1"/>
            <p:nvPr/>
          </p:nvSpPr>
          <p:spPr>
            <a:xfrm>
              <a:off x="1422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Operating Activities:</a:t>
              </a:r>
              <a:endParaRPr/>
            </a:p>
          </p:txBody>
        </p:sp>
        <p:sp>
          <p:nvSpPr>
            <p:cNvPr id="543" name="Google Shape;543;p35"/>
            <p:cNvSpPr/>
            <p:nvPr/>
          </p:nvSpPr>
          <p:spPr>
            <a:xfrm>
              <a:off x="1422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5"/>
            <p:cNvSpPr txBox="1"/>
            <p:nvPr/>
          </p:nvSpPr>
          <p:spPr>
            <a:xfrm>
              <a:off x="1422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Shows steady growth indicates strong client demand for digital services and robust collection processes.</a:t>
              </a:r>
              <a:endParaRPr/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1991670" y="303183"/>
              <a:ext cx="592839" cy="59283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1991670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5"/>
            <p:cNvSpPr txBox="1"/>
            <p:nvPr/>
          </p:nvSpPr>
          <p:spPr>
            <a:xfrm>
              <a:off x="1991670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Investing Activities:</a:t>
              </a:r>
              <a:endParaRPr/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1991670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5"/>
            <p:cNvSpPr txBox="1"/>
            <p:nvPr/>
          </p:nvSpPr>
          <p:spPr>
            <a:xfrm>
              <a:off x="1991670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Fluctuations represent continued strategic investments in technology infrastructure, acquisitions, and capacity expansion.</a:t>
              </a:r>
              <a:endParaRPr/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3981918" y="303183"/>
              <a:ext cx="592839" cy="59283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3981918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5"/>
            <p:cNvSpPr txBox="1"/>
            <p:nvPr/>
          </p:nvSpPr>
          <p:spPr>
            <a:xfrm>
              <a:off x="3981918" y="1077659"/>
              <a:ext cx="1693828" cy="571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Financing Activities:</a:t>
              </a:r>
              <a:endParaRPr/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3981918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5"/>
            <p:cNvSpPr txBox="1"/>
            <p:nvPr/>
          </p:nvSpPr>
          <p:spPr>
            <a:xfrm>
              <a:off x="3981918" y="1733807"/>
              <a:ext cx="1693828" cy="2793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Consistently large outflows tied to dividend payouts and share buybacks, highlighting shareholder-friendly capital allocation.</a:t>
              </a:r>
              <a:endParaRPr/>
            </a:p>
          </p:txBody>
        </p:sp>
      </p:grpSp>
      <p:pic>
        <p:nvPicPr>
          <p:cNvPr id="555" name="Google Shape;555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7925" y="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6"/>
          <p:cNvSpPr txBox="1">
            <a:spLocks noGrp="1"/>
          </p:cNvSpPr>
          <p:nvPr>
            <p:ph type="title"/>
          </p:nvPr>
        </p:nvSpPr>
        <p:spPr>
          <a:xfrm>
            <a:off x="678426" y="-3585"/>
            <a:ext cx="10515600" cy="83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 Sheet - Forecast</a:t>
            </a:r>
            <a:endParaRPr/>
          </a:p>
        </p:txBody>
      </p:sp>
      <p:grpSp>
        <p:nvGrpSpPr>
          <p:cNvPr id="561" name="Google Shape;561;p36"/>
          <p:cNvGrpSpPr/>
          <p:nvPr/>
        </p:nvGrpSpPr>
        <p:grpSpPr>
          <a:xfrm>
            <a:off x="7024633" y="1504232"/>
            <a:ext cx="4951571" cy="3838834"/>
            <a:chOff x="53562" y="833896"/>
            <a:chExt cx="4951571" cy="3838834"/>
          </a:xfrm>
        </p:grpSpPr>
        <p:sp>
          <p:nvSpPr>
            <p:cNvPr id="562" name="Google Shape;562;p36"/>
            <p:cNvSpPr/>
            <p:nvPr/>
          </p:nvSpPr>
          <p:spPr>
            <a:xfrm>
              <a:off x="53562" y="833896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191223" y="971556"/>
              <a:ext cx="380205" cy="38020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849559" y="833896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 txBox="1"/>
            <p:nvPr/>
          </p:nvSpPr>
          <p:spPr>
            <a:xfrm>
              <a:off x="849559" y="833896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Ongoing investments in technology (like GenAI and ML) and infrastructure drive steady growth in non-current assets.</a:t>
              </a: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2663965" y="833896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2801625" y="971556"/>
              <a:ext cx="380205" cy="38020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3459962" y="833896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 txBox="1"/>
            <p:nvPr/>
          </p:nvSpPr>
          <p:spPr>
            <a:xfrm>
              <a:off x="3459962" y="833896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Expansion of business scale leads to higher current assets like receivables and cash balances.</a:t>
              </a: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53562" y="2425549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191223" y="2563210"/>
              <a:ext cx="380205" cy="38020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849559" y="2425549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 txBox="1"/>
            <p:nvPr/>
          </p:nvSpPr>
          <p:spPr>
            <a:xfrm>
              <a:off x="849559" y="2425549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Consistent profit retention supports gradual increase in shareholders’ funds and equity base.</a:t>
              </a: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2663965" y="2425549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2801625" y="2563210"/>
              <a:ext cx="380205" cy="38020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3459962" y="2425549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 txBox="1"/>
            <p:nvPr/>
          </p:nvSpPr>
          <p:spPr>
            <a:xfrm>
              <a:off x="3459962" y="2425549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Minority interest grows with wider global operations and consolidation of subsidiaries.</a:t>
              </a: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53562" y="4017203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191223" y="4154864"/>
              <a:ext cx="380205" cy="38020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849559" y="4017203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 txBox="1"/>
            <p:nvPr/>
          </p:nvSpPr>
          <p:spPr>
            <a:xfrm>
              <a:off x="849559" y="4017203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Moderate rise in non-current and current liabilities reflects scale of business and vendor payables, without new debt reliance.</a:t>
              </a: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2663965" y="4017203"/>
              <a:ext cx="655527" cy="655527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2801625" y="4154864"/>
              <a:ext cx="380205" cy="380205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3459962" y="4017203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 txBox="1"/>
            <p:nvPr/>
          </p:nvSpPr>
          <p:spPr>
            <a:xfrm>
              <a:off x="3459962" y="4017203"/>
              <a:ext cx="1545171" cy="655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Projections align with historical growth patterns and expected market/industry conditions.</a:t>
              </a:r>
              <a:endParaRPr/>
            </a:p>
          </p:txBody>
        </p:sp>
      </p:grpSp>
      <p:sp>
        <p:nvSpPr>
          <p:cNvPr id="586" name="Google Shape;58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87" name="Google Shape;587;p36" descr="Updated TCS balance sheet line chart with white background and labeled estimate years"/>
          <p:cNvPicPr preferRelativeResize="0"/>
          <p:nvPr/>
        </p:nvPicPr>
        <p:blipFill rotWithShape="1">
          <a:blip r:embed="rId9">
            <a:alphaModFix/>
          </a:blip>
          <a:srcRect t="3133" r="46"/>
          <a:stretch/>
        </p:blipFill>
        <p:spPr>
          <a:xfrm>
            <a:off x="358003" y="1192177"/>
            <a:ext cx="6601796" cy="4618293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88" name="Google Shape;588;p3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194025" y="-3575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7"/>
          <p:cNvSpPr txBox="1">
            <a:spLocks noGrp="1"/>
          </p:cNvSpPr>
          <p:nvPr>
            <p:ph type="title"/>
          </p:nvPr>
        </p:nvSpPr>
        <p:spPr>
          <a:xfrm>
            <a:off x="825910" y="-527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>
                <a:latin typeface="Calibri"/>
                <a:ea typeface="Calibri"/>
                <a:cs typeface="Calibri"/>
                <a:sym typeface="Calibri"/>
              </a:rPr>
              <a:t>Profit and Loss - Forecast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95" name="Google Shape;595;p37" descr="Line chart of TCS cash flow components from 2021 to 2027 with estimation years labeled"/>
          <p:cNvPicPr preferRelativeResize="0"/>
          <p:nvPr/>
        </p:nvPicPr>
        <p:blipFill rotWithShape="1">
          <a:blip r:embed="rId3">
            <a:alphaModFix/>
          </a:blip>
          <a:srcRect t="2871" r="4787"/>
          <a:stretch/>
        </p:blipFill>
        <p:spPr>
          <a:xfrm>
            <a:off x="521110" y="1273277"/>
            <a:ext cx="6596098" cy="4573662"/>
          </a:xfrm>
          <a:prstGeom prst="rect">
            <a:avLst/>
          </a:prstGeom>
          <a:noFill/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96" name="Google Shape;596;p37"/>
          <p:cNvGrpSpPr/>
          <p:nvPr/>
        </p:nvGrpSpPr>
        <p:grpSpPr>
          <a:xfrm>
            <a:off x="7335177" y="1474061"/>
            <a:ext cx="3888237" cy="4337876"/>
            <a:chOff x="400145" y="205250"/>
            <a:chExt cx="3888237" cy="4337876"/>
          </a:xfrm>
        </p:grpSpPr>
        <p:sp>
          <p:nvSpPr>
            <p:cNvPr id="597" name="Google Shape;597;p37"/>
            <p:cNvSpPr/>
            <p:nvPr/>
          </p:nvSpPr>
          <p:spPr>
            <a:xfrm>
              <a:off x="891761" y="205250"/>
              <a:ext cx="804462" cy="80446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400145" y="13015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 txBox="1"/>
            <p:nvPr/>
          </p:nvSpPr>
          <p:spPr>
            <a:xfrm>
              <a:off x="400145" y="13015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Operating Cash Flow Growth: Increasing due to strong profitability and efficient working capital management.</a:t>
              </a: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2992303" y="205250"/>
              <a:ext cx="804462" cy="80446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2500687" y="13015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 txBox="1"/>
            <p:nvPr/>
          </p:nvSpPr>
          <p:spPr>
            <a:xfrm>
              <a:off x="2500687" y="13015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Investing Cash Flow: Fluctuates reflecting ongoing technology and infrastructure investments, partly offset by asset sales or reduced capex in some years.</a:t>
              </a: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1942032" y="2597650"/>
              <a:ext cx="804462" cy="80446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1450416" y="36939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 txBox="1"/>
            <p:nvPr/>
          </p:nvSpPr>
          <p:spPr>
            <a:xfrm>
              <a:off x="1450416" y="3693971"/>
              <a:ext cx="1787695" cy="8491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Financing Cash Flow: Consistent cash outflows driven by dividends and share repurchases, maintaining shareholder returns.</a:t>
              </a:r>
              <a:endParaRPr/>
            </a:p>
          </p:txBody>
        </p:sp>
      </p:grpSp>
      <p:pic>
        <p:nvPicPr>
          <p:cNvPr id="606" name="Google Shape;60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7925" y="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 txBox="1"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TCS Stock Snapshot &amp; Market Sentiment</a:t>
            </a:r>
            <a:endParaRPr sz="2800"/>
          </a:p>
        </p:txBody>
      </p:sp>
      <p:pic>
        <p:nvPicPr>
          <p:cNvPr id="613" name="Google Shape;613;p38" descr="Colorful charts and graphs"/>
          <p:cNvPicPr preferRelativeResize="0"/>
          <p:nvPr/>
        </p:nvPicPr>
        <p:blipFill rotWithShape="1">
          <a:blip r:embed="rId3">
            <a:alphaModFix/>
          </a:blip>
          <a:srcRect l="17475" r="12798" b="6"/>
          <a:stretch/>
        </p:blipFill>
        <p:spPr>
          <a:xfrm>
            <a:off x="20" y="2768743"/>
            <a:ext cx="4278264" cy="408925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8"/>
          <p:cNvSpPr/>
          <p:nvPr/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8"/>
          <p:cNvSpPr txBox="1">
            <a:spLocks noGrp="1"/>
          </p:cNvSpPr>
          <p:nvPr>
            <p:ph type="body" idx="1"/>
          </p:nvPr>
        </p:nvSpPr>
        <p:spPr>
          <a:xfrm>
            <a:off x="4473001" y="2989"/>
            <a:ext cx="7356254" cy="6859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TCS stock traded between ₹2,992 and ₹4,494 from 2021 to 2025, ending near ₹3,035 amid market volatility.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Strong fundamentals, consistent profits (~₹32,500 Cr to ₹48,800 Cr), and ~4.15% dividend yield supported investor confidence.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Recent IT Sector News &amp; Impact 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GST Reforms 2025: Simplified tax slabs and rate cuts expected to ease compliance, benefiting MSMEs and improving working capital for companies like TCS.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Geopolitical Tensions: Regulatory uncertainties and cyber threats due to regional issues create risks but also drive growth in cybersecurity and consulting services.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Visa &amp; Tariff Challenges: US visa restrictions and tariffs put pressure on revenues, but TCS’s global diversification limits concentrated risk.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Financial Impact Outlook (Next 2 Years) 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Revenue growth expected from AI, cloud, and digital services globally.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Margins face slight pressure from wage inflation, offset by productivity gains and cost control.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Moderate capex increase for tech investment.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Dividends likely maintained to support investor confidence.</a:t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618" name="Google Shape;61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00"/>
            <a:ext cx="1004075" cy="10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753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Company Overview</vt:lpstr>
      <vt:lpstr>PowerPoint Presentation</vt:lpstr>
      <vt:lpstr>PowerPoint Presentation</vt:lpstr>
      <vt:lpstr>PowerPoint Presentation</vt:lpstr>
      <vt:lpstr>PowerPoint Presentation</vt:lpstr>
      <vt:lpstr>Balance Sheet - Forecast</vt:lpstr>
      <vt:lpstr>Profit and Loss - Forecast</vt:lpstr>
      <vt:lpstr>TCS Stock Snapshot &amp; Market Sentiment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Saisha Hemrajani</dc:creator>
  <cp:lastModifiedBy>Saisha Hemrajani</cp:lastModifiedBy>
  <cp:revision>1</cp:revision>
  <dcterms:created xsi:type="dcterms:W3CDTF">2025-11-09T07:43:19Z</dcterms:created>
  <dcterms:modified xsi:type="dcterms:W3CDTF">2025-11-09T07:44:41Z</dcterms:modified>
</cp:coreProperties>
</file>